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903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2205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754880" cy="54864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402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появления и развития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3611880"/>
            <a:ext cx="3840480" cy="777240"/>
          </a:xfrm>
          <a:prstGeom prst="rect">
            <a:avLst/>
          </a:prstGeom>
          <a:solidFill>
            <a:srgbClr val="1B4FD8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457200" y="36118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Питропов Александр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I2302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B4FD8">
              <a:alpha val="18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5486400" y="2286000"/>
            <a:ext cx="2011680" cy="2011680"/>
          </a:xfrm>
          <a:prstGeom prst="ellipse">
            <a:avLst/>
          </a:prstGeom>
          <a:solidFill>
            <a:srgbClr val="21C3F3">
              <a:alpha val="1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7772400" y="2926080"/>
            <a:ext cx="1371600" cy="1371600"/>
          </a:xfrm>
          <a:prstGeom prst="ellipse">
            <a:avLst/>
          </a:prstGeom>
          <a:solidFill>
            <a:srgbClr val="1B4FD8">
              <a:alpha val="2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5303520" y="128016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№1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мире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5120640" y="31089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Используется более чем на 43% всех сайтов в интернете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CMS?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solidFill>
            <a:srgbClr val="1B4FD8">
              <a:alpha val="80000"/>
            </a:srgbClr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(Content Management System) — программная платформа для создания,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редактирования и публикации контента на сайтах без знания программирования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920240" cy="246888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920240" cy="54864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331720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337560"/>
            <a:ext cx="1920240" cy="1143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Мгновенная публикация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редактирование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материалов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42032" y="2148840"/>
            <a:ext cx="1920240" cy="246888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2542032" y="2148840"/>
            <a:ext cx="1920240" cy="54864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2331720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42032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Шаблоны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542032" y="3337560"/>
            <a:ext cx="1920240" cy="1143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Тысячи готовых тем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любого типа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сайта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26864" y="2148840"/>
            <a:ext cx="1920240" cy="246888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4"/>
          <p:cNvSpPr/>
          <p:nvPr/>
        </p:nvSpPr>
        <p:spPr>
          <a:xfrm>
            <a:off x="4626864" y="2148840"/>
            <a:ext cx="1920240" cy="54864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2331720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26864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Плагины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626864" y="3337560"/>
            <a:ext cx="1920240" cy="1143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функций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написания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кода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711696" y="2148840"/>
            <a:ext cx="1920240" cy="246888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Shape 18"/>
          <p:cNvSpPr/>
          <p:nvPr/>
        </p:nvSpPr>
        <p:spPr>
          <a:xfrm>
            <a:off x="6711696" y="2148840"/>
            <a:ext cx="1920240" cy="54864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776" y="2331720"/>
            <a:ext cx="594360" cy="5943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11696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711696" y="3337560"/>
            <a:ext cx="1920240" cy="1143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Многопользовательская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разными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ролями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роль в образовании, бизнесе и СМИ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WordPress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371600" cy="1371600"/>
          </a:xfrm>
          <a:prstGeom prst="ellipse">
            <a:avLst/>
          </a:prstGeom>
          <a:solidFill>
            <a:srgbClr val="1B4FD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005840"/>
            <a:ext cx="1152144" cy="1152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03120" y="960120"/>
            <a:ext cx="3200400" cy="804672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5"/>
          <p:cNvSpPr/>
          <p:nvPr/>
        </p:nvSpPr>
        <p:spPr>
          <a:xfrm>
            <a:off x="2103120" y="960120"/>
            <a:ext cx="64008" cy="804672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228600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MySQL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286000" y="13075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Открытая платформа на двух ключевых технологиях веба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03120" y="1920240"/>
            <a:ext cx="3200400" cy="804672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2103120" y="1920240"/>
            <a:ext cx="64008" cy="804672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228600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Блоги → Всё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286000" y="22677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блог-движка вырос в универсальную CMS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103120" y="2880360"/>
            <a:ext cx="3200400" cy="804672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2103120" y="2880360"/>
            <a:ext cx="64008" cy="804672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228600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286000" y="32278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Темы, плагины и визуальные редакторы для разработчиков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103120" y="3840480"/>
            <a:ext cx="3200400" cy="804672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7"/>
          <p:cNvSpPr/>
          <p:nvPr/>
        </p:nvSpPr>
        <p:spPr>
          <a:xfrm>
            <a:off x="2103120" y="3840480"/>
            <a:ext cx="64008" cy="804672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/>
          <p:nvPr/>
        </p:nvSpPr>
        <p:spPr>
          <a:xfrm>
            <a:off x="228600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сайт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286000" y="41879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Блоги, портфолио, магазины, корпоративные порталы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669280" y="822960"/>
            <a:ext cx="3108960" cy="4023360"/>
          </a:xfrm>
          <a:prstGeom prst="rect">
            <a:avLst/>
          </a:prstGeom>
          <a:solidFill>
            <a:srgbClr val="162456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Shape 21"/>
          <p:cNvSpPr/>
          <p:nvPr/>
        </p:nvSpPr>
        <p:spPr>
          <a:xfrm>
            <a:off x="5669280" y="822960"/>
            <a:ext cx="3108960" cy="54864"/>
          </a:xfrm>
          <a:prstGeom prst="rect">
            <a:avLst/>
          </a:prstGeom>
          <a:solidFill>
            <a:srgbClr val="1B4F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/>
          <p:nvPr/>
        </p:nvSpPr>
        <p:spPr>
          <a:xfrm>
            <a:off x="5669280" y="9144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цифрах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760720" y="1691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04088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всех сайтов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используют WP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760720" y="2560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60 000+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7040880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плагинов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репозитории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760720" y="3429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11 000+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7040880" y="3429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оформления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760720" y="4297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7040880" y="4297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основания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Предыстория: платформы до WordPress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E34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005840" y="749808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81328"/>
            <a:ext cx="1965960" cy="292608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11480" y="1481328"/>
            <a:ext cx="196596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11480" y="15727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Blogger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011680"/>
            <a:ext cx="1965960" cy="2286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Сделал блогинг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доступным для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массового пользователя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749808"/>
            <a:ext cx="274320" cy="274320"/>
          </a:xfrm>
          <a:prstGeom prst="ellipse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2560320" y="1097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1481328"/>
            <a:ext cx="1965960" cy="292608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2560320" y="1481328"/>
            <a:ext cx="1965960" cy="54864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2560320" y="15727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b2/cafelog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2011680"/>
            <a:ext cx="1965960" cy="2286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MySQL,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динамическая генерация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страниц. Основа для WP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749808"/>
            <a:ext cx="274320" cy="274320"/>
          </a:xfrm>
          <a:prstGeom prst="ellipse">
            <a:avLst/>
          </a:prstGeom>
          <a:solidFill>
            <a:srgbClr val="E055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4709160" y="1097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1481328"/>
            <a:ext cx="1965960" cy="292608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4709160" y="1481328"/>
            <a:ext cx="1965960" cy="54864"/>
          </a:xfrm>
          <a:prstGeom prst="rect">
            <a:avLst/>
          </a:prstGeom>
          <a:solidFill>
            <a:srgbClr val="E055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709160" y="15727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Movable Type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9160" y="2011680"/>
            <a:ext cx="1965960" cy="2286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Сложные сайты,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высокий барьер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входа для настройки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52360" y="749808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6858000" y="1097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0" y="1481328"/>
            <a:ext cx="1965960" cy="292608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6858000" y="1481328"/>
            <a:ext cx="196596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6858000" y="15727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2011680"/>
            <a:ext cx="1965960" cy="2286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Объединил простоту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гибкость,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otkрытый исходный код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WordPress мир CMS был разделён между сложными инструментами для разработчиков и ограниченными сервисами для обычных пользователей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WordPress (2003)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2011680"/>
          </a:xfrm>
          <a:prstGeom prst="rect">
            <a:avLst/>
          </a:prstGeom>
          <a:solidFill>
            <a:srgbClr val="162456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31920" cy="54864"/>
          </a:xfrm>
          <a:prstGeom prst="rect">
            <a:avLst/>
          </a:prstGeom>
          <a:solidFill>
            <a:srgbClr val="1B4F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965960" y="1051560"/>
            <a:ext cx="914400" cy="914400"/>
          </a:xfrm>
          <a:prstGeom prst="ellipse">
            <a:avLst/>
          </a:prstGeom>
          <a:solidFill>
            <a:srgbClr val="1B4FD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832" y="1170432"/>
            <a:ext cx="676656" cy="6766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Мэтт Малленвег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377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Основатель &amp; CEO Automattic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633472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19 лет. Предложил сделать fork b2/cafelog и взял на себя основную разработку проекта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960120"/>
            <a:ext cx="3931920" cy="2011680"/>
          </a:xfrm>
          <a:prstGeom prst="rect">
            <a:avLst/>
          </a:prstGeom>
          <a:solidFill>
            <a:srgbClr val="162456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4846320" y="960120"/>
            <a:ext cx="3931920" cy="54864"/>
          </a:xfrm>
          <a:prstGeom prst="rect">
            <a:avLst/>
          </a:prstGeom>
          <a:solidFill>
            <a:srgbClr val="1B4F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6355080" y="1051560"/>
            <a:ext cx="914400" cy="914400"/>
          </a:xfrm>
          <a:prstGeom prst="ellipse">
            <a:avLst/>
          </a:prstGeom>
          <a:solidFill>
            <a:srgbClr val="1B4FD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170432"/>
            <a:ext cx="676656" cy="6766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4632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Майк Литтл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846320" y="2377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Сооснователь WordPress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846320" y="2633472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Опытный разработчик, откликнулся на пост Мэтта и стал ключевым участником первоначальной разработки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7200" y="3154680"/>
            <a:ext cx="3931920" cy="594360"/>
          </a:xfrm>
          <a:prstGeom prst="rect">
            <a:avLst/>
          </a:prstGeom>
          <a:solidFill>
            <a:srgbClr val="1220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6"/>
          <p:cNvSpPr/>
          <p:nvPr/>
        </p:nvSpPr>
        <p:spPr>
          <a:xfrm>
            <a:off x="457200" y="3154680"/>
            <a:ext cx="64008" cy="594360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594360" y="31912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 2003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94360" y="3410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публичный релиз WordPress 0.7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846320" y="3154680"/>
            <a:ext cx="3931920" cy="594360"/>
          </a:xfrm>
          <a:prstGeom prst="rect">
            <a:avLst/>
          </a:prstGeom>
          <a:solidFill>
            <a:srgbClr val="1220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Shape 20"/>
          <p:cNvSpPr/>
          <p:nvPr/>
        </p:nvSpPr>
        <p:spPr>
          <a:xfrm>
            <a:off x="4846320" y="3154680"/>
            <a:ext cx="64008" cy="594360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4983480" y="31912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983480" y="3410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Основан на коде b2/cafelog Мишеля Вальдриге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57200" y="3886200"/>
            <a:ext cx="3931920" cy="594360"/>
          </a:xfrm>
          <a:prstGeom prst="rect">
            <a:avLst/>
          </a:prstGeom>
          <a:solidFill>
            <a:srgbClr val="1220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8" name="Shape 24"/>
          <p:cNvSpPr/>
          <p:nvPr/>
        </p:nvSpPr>
        <p:spPr>
          <a:xfrm>
            <a:off x="457200" y="3886200"/>
            <a:ext cx="64008" cy="594360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594360" y="3922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GPL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594360" y="4142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Открытая лицензия, свободная модификация и распространение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846320" y="3886200"/>
            <a:ext cx="3931920" cy="594360"/>
          </a:xfrm>
          <a:prstGeom prst="rect">
            <a:avLst/>
          </a:prstGeom>
          <a:solidFill>
            <a:srgbClr val="1220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2" name="Shape 28"/>
          <p:cNvSpPr/>
          <p:nvPr/>
        </p:nvSpPr>
        <p:spPr>
          <a:xfrm>
            <a:off x="4846320" y="3886200"/>
            <a:ext cx="64008" cy="594360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9"/>
          <p:cNvSpPr/>
          <p:nvPr/>
        </p:nvSpPr>
        <p:spPr>
          <a:xfrm>
            <a:off x="4983480" y="3922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4983480" y="4142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Элегантная и удобная система для публикации контента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Раннее развитие (2003–2009)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51760" cy="347472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651760" cy="73152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371600" y="1097280"/>
            <a:ext cx="822960" cy="822960"/>
          </a:xfrm>
          <a:prstGeom prst="ellipse">
            <a:avLst/>
          </a:prstGeom>
          <a:solidFill>
            <a:srgbClr val="21C3F3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170432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Плагины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7200" y="2468880"/>
            <a:ext cx="2651760" cy="1828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Появление Plugin API открыло возможности для тысяч разработчиков. Быстрый рост функциональности без изменения ядра системы.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960120"/>
            <a:ext cx="2651760" cy="347472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3337560" y="960120"/>
            <a:ext cx="2651760" cy="731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4251960" y="1097280"/>
            <a:ext cx="822960" cy="822960"/>
          </a:xfrm>
          <a:prstGeom prst="ellipse">
            <a:avLst/>
          </a:prstGeom>
          <a:solidFill>
            <a:srgbClr val="F5A623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170432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Темы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337560" y="2468880"/>
            <a:ext cx="2651760" cy="1828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Разделение дизайна и логики. Любой пользователь мог менять оформление сайта без знания PHP и CSS.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960120"/>
            <a:ext cx="2651760" cy="347472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4"/>
          <p:cNvSpPr/>
          <p:nvPr/>
        </p:nvSpPr>
        <p:spPr>
          <a:xfrm>
            <a:off x="6217920" y="960120"/>
            <a:ext cx="2651760" cy="731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5"/>
          <p:cNvSpPr/>
          <p:nvPr/>
        </p:nvSpPr>
        <p:spPr>
          <a:xfrm>
            <a:off x="7132320" y="1097280"/>
            <a:ext cx="822960" cy="822960"/>
          </a:xfrm>
          <a:prstGeom prst="ellipse">
            <a:avLst/>
          </a:prstGeom>
          <a:solidFill>
            <a:srgbClr val="22C55E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170432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Сообщество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217920" y="2468880"/>
            <a:ext cx="2651760" cy="1828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WordCamps с 2006 года, форумы поддержки, локализация на десятки языков — всё на волонтёрских усилиях.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4617720"/>
            <a:ext cx="8229600" cy="438912"/>
          </a:xfrm>
          <a:prstGeom prst="rect">
            <a:avLst/>
          </a:prstGeom>
          <a:solidFill>
            <a:srgbClr val="1220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Text 19"/>
          <p:cNvSpPr/>
          <p:nvPr/>
        </p:nvSpPr>
        <p:spPr>
          <a:xfrm>
            <a:off x="457200" y="46177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2009 году WordPress занял лидирующую позицию среди блог-платформ и стал превращаться в полноценную CMS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и популярность (2010-е)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595360" cy="1234440"/>
          </a:xfrm>
          <a:prstGeom prst="rect">
            <a:avLst/>
          </a:prstGeom>
          <a:solidFill>
            <a:srgbClr val="162456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рынка CMS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06728"/>
            <a:ext cx="1280160" cy="184912"/>
          </a:xfrm>
          <a:prstGeom prst="rect">
            <a:avLst/>
          </a:prstGeom>
          <a:solidFill>
            <a:srgbClr val="1B4FD8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640080" y="1232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1421384"/>
            <a:ext cx="1280160" cy="270256"/>
          </a:xfrm>
          <a:prstGeom prst="rect">
            <a:avLst/>
          </a:prstGeom>
          <a:solidFill>
            <a:srgbClr val="1B4FD8">
              <a:alpha val="8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2212848" y="1147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12848" y="1755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85616" y="1307592"/>
            <a:ext cx="1280160" cy="384048"/>
          </a:xfrm>
          <a:prstGeom prst="rect">
            <a:avLst/>
          </a:prstGeom>
          <a:solidFill>
            <a:srgbClr val="1B4FD8">
              <a:alpha val="8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3785616" y="1033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85616" y="1755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58384" y="1193800"/>
            <a:ext cx="1280160" cy="497840"/>
          </a:xfrm>
          <a:prstGeom prst="rect">
            <a:avLst/>
          </a:prstGeom>
          <a:solidFill>
            <a:srgbClr val="1B4FD8">
              <a:alpha val="86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5358384" y="919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58384" y="1755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31152" y="1080008"/>
            <a:ext cx="1280160" cy="611632"/>
          </a:xfrm>
          <a:prstGeom prst="rect">
            <a:avLst/>
          </a:prstGeom>
          <a:solidFill>
            <a:srgbClr val="1B4FD8">
              <a:alpha val="88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6931152" y="8056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31152" y="1755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240280"/>
            <a:ext cx="2011680" cy="256032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57200" y="2240280"/>
            <a:ext cx="2011680" cy="54864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395728"/>
            <a:ext cx="685800" cy="6858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5720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Доминирование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3493008"/>
            <a:ext cx="201168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занял более 40% рынка CMS, опередив всех конкурентов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651760" y="2240280"/>
            <a:ext cx="2011680" cy="256032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8" name="Shape 25"/>
          <p:cNvSpPr/>
          <p:nvPr/>
        </p:nvSpPr>
        <p:spPr>
          <a:xfrm>
            <a:off x="2651760" y="2240280"/>
            <a:ext cx="201168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2395728"/>
            <a:ext cx="685800" cy="6858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265176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2651760" y="3493008"/>
            <a:ext cx="201168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Запущен в 2011, стал крупнейшим e-commerce решением на WordPress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846320" y="2240280"/>
            <a:ext cx="2011680" cy="256032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3" name="Shape 29"/>
          <p:cNvSpPr/>
          <p:nvPr/>
        </p:nvSpPr>
        <p:spPr>
          <a:xfrm>
            <a:off x="4846320" y="2240280"/>
            <a:ext cx="201168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2395728"/>
            <a:ext cx="685800" cy="6858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84632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Экосистема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4846320" y="3493008"/>
            <a:ext cx="201168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Премиум-темы и коммерческие плагины — многомиллиардная индустрия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7040880" y="2240280"/>
            <a:ext cx="2011680" cy="256032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8" name="Shape 33"/>
          <p:cNvSpPr/>
          <p:nvPr/>
        </p:nvSpPr>
        <p:spPr>
          <a:xfrm>
            <a:off x="7040880" y="2240280"/>
            <a:ext cx="2011680" cy="54864"/>
          </a:xfrm>
          <a:prstGeom prst="rect">
            <a:avLst/>
          </a:prstGeom>
          <a:solidFill>
            <a:srgbClr val="E055E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395728"/>
            <a:ext cx="685800" cy="6858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04088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7040880" y="3493008"/>
            <a:ext cx="201168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соцсети, мобильные приложения, REST API для всех платформ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Современный WordPress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178308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31920" cy="54864"/>
          </a:xfrm>
          <a:prstGeom prst="rect">
            <a:avLst/>
          </a:prstGeom>
          <a:solidFill>
            <a:srgbClr val="1B4F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777240" cy="777240"/>
          </a:xfrm>
          <a:prstGeom prst="ellipse">
            <a:avLst/>
          </a:prstGeom>
          <a:solidFill>
            <a:srgbClr val="1B4FD8">
              <a:alpha val="7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216152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Gutenberg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0876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Блоковый редактор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19613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Революционный визуальный редактор на блоках. Изменил подход к созданию страниц — drag &amp; drop без кода.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46320" y="960120"/>
            <a:ext cx="3931920" cy="178308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4846320" y="960120"/>
            <a:ext cx="393192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4983480" y="1143000"/>
            <a:ext cx="777240" cy="777240"/>
          </a:xfrm>
          <a:prstGeom prst="ellipse">
            <a:avLst/>
          </a:prstGeom>
          <a:solidFill>
            <a:srgbClr val="F5A623">
              <a:alpha val="7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216152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9788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89788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платформа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977882" y="19613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Крупнейшее решение для интернет-магазинов. Более 5 млн активных установок. 28% всех онлайн-магазинов.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7200" y="3011611"/>
            <a:ext cx="3931920" cy="178308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6"/>
          <p:cNvSpPr/>
          <p:nvPr/>
        </p:nvSpPr>
        <p:spPr>
          <a:xfrm>
            <a:off x="457200" y="2971800"/>
            <a:ext cx="393192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7"/>
          <p:cNvSpPr/>
          <p:nvPr/>
        </p:nvSpPr>
        <p:spPr>
          <a:xfrm>
            <a:off x="594360" y="3154680"/>
            <a:ext cx="777240" cy="777240"/>
          </a:xfrm>
          <a:prstGeom prst="ellipse">
            <a:avLst/>
          </a:prstGeom>
          <a:solidFill>
            <a:srgbClr val="22C55E">
              <a:alpha val="7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227832"/>
            <a:ext cx="640080" cy="6400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50876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&amp; интеграции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94360" y="3951825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как бэкенд для мобильных приложений, SPA и любых frontend-решений.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846320" y="2971800"/>
            <a:ext cx="3931920" cy="178308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Shape 22"/>
          <p:cNvSpPr/>
          <p:nvPr/>
        </p:nvSpPr>
        <p:spPr>
          <a:xfrm>
            <a:off x="4846320" y="2971800"/>
            <a:ext cx="3931920" cy="54864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Shape 23"/>
          <p:cNvSpPr/>
          <p:nvPr/>
        </p:nvSpPr>
        <p:spPr>
          <a:xfrm>
            <a:off x="4983480" y="3154680"/>
            <a:ext cx="777240" cy="777240"/>
          </a:xfrm>
          <a:prstGeom prst="ellipse">
            <a:avLst/>
          </a:prstGeom>
          <a:solidFill>
            <a:srgbClr val="21C3F3">
              <a:alpha val="7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227832"/>
            <a:ext cx="640080" cy="6400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89788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58978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Регулярные обновления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983480" y="3977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Активная команда безопасности, автоматические патчи, двухфакторная аутентификация.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WordPress стал популярным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178308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54864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078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код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60320" y="1463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181051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GPL-лицензия даёт свободу модификации и распространения. Любой может изучить, изменить и улучшить код.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46320" y="914400"/>
            <a:ext cx="3931920" cy="178308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4846320" y="914400"/>
            <a:ext cx="393192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43000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0720" y="1078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Гибкость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76072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60K+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949440" y="1463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плагинов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029200" y="181051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Плагины и темы позволяют строить сайты любого типа — от блога до крупного корпоративного портала.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7200" y="2926080"/>
            <a:ext cx="3931920" cy="178308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6"/>
          <p:cNvSpPr/>
          <p:nvPr/>
        </p:nvSpPr>
        <p:spPr>
          <a:xfrm>
            <a:off x="457200" y="2926080"/>
            <a:ext cx="393192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594360" cy="5943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3090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Сообщество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37160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WordCamp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2560320" y="3474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всему миру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40080" y="382219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Миллионы разработчиков, форумы поддержки, локализация на 200+ языков, ежегодные конференции.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846320" y="2926080"/>
            <a:ext cx="3931920" cy="178308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Shape 22"/>
          <p:cNvSpPr/>
          <p:nvPr/>
        </p:nvSpPr>
        <p:spPr>
          <a:xfrm>
            <a:off x="4846320" y="2926080"/>
            <a:ext cx="3931920" cy="54864"/>
          </a:xfrm>
          <a:prstGeom prst="rect">
            <a:avLst/>
          </a:prstGeom>
          <a:solidFill>
            <a:srgbClr val="E055E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154680"/>
            <a:ext cx="594360" cy="5943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760720" y="3090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Простота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576072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5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мин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6949440" y="3474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первого сайта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5029200" y="382219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порог входа: авторы и преподаватели работают без знания программирования.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B4F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0" cy="91440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7315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7432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3291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27432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сайтов в интернете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31920" y="365760"/>
            <a:ext cx="4937760" cy="978408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3931920" y="365760"/>
            <a:ext cx="64008" cy="978408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4069080" y="4572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572000" y="438912"/>
            <a:ext cx="4160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превратился из простой блог-платформы в универсальную CMS мирового масштаба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31920" y="1481328"/>
            <a:ext cx="4937760" cy="978408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3931920" y="1481328"/>
            <a:ext cx="64008" cy="978408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4069080" y="15727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572000" y="1554480"/>
            <a:ext cx="4160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факторы успеха: открытость кода, расширяемость через плагины, активное сообщество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31920" y="2596896"/>
            <a:ext cx="4937760" cy="978408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5"/>
          <p:cNvSpPr/>
          <p:nvPr/>
        </p:nvSpPr>
        <p:spPr>
          <a:xfrm>
            <a:off x="3931920" y="2596896"/>
            <a:ext cx="64008" cy="978408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4069080" y="268833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0" y="2670048"/>
            <a:ext cx="4160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Широкое применение в образовании, бизнесе, СМИ и электронной коммерции (WooCommerce)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931920" y="3712464"/>
            <a:ext cx="4937760" cy="978408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Shape 19"/>
          <p:cNvSpPr/>
          <p:nvPr/>
        </p:nvSpPr>
        <p:spPr>
          <a:xfrm>
            <a:off x="3931920" y="3712464"/>
            <a:ext cx="64008" cy="978408"/>
          </a:xfrm>
          <a:prstGeom prst="rect">
            <a:avLst/>
          </a:prstGeom>
          <a:solidFill>
            <a:srgbClr val="21C3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/>
          <p:nvPr/>
        </p:nvSpPr>
        <p:spPr>
          <a:xfrm>
            <a:off x="4069080" y="38039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572000" y="3785616"/>
            <a:ext cx="4160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 изучать WordPress как практический инструмент веб-разработки и управления контентом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A9BB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Библиография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64008" cy="822960"/>
          </a:xfrm>
          <a:prstGeom prst="rect">
            <a:avLst/>
          </a:prstGeom>
          <a:solidFill>
            <a:srgbClr val="1B4F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640080" cy="822960"/>
          </a:xfrm>
          <a:prstGeom prst="rect">
            <a:avLst/>
          </a:prstGeom>
          <a:solidFill>
            <a:srgbClr val="12205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10789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Официальный сайт WordPress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35331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https://wordpress.org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34440" y="155448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Документация, скачивание, информация о проекте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64008" cy="822960"/>
          </a:xfrm>
          <a:prstGeom prst="rect">
            <a:avLst/>
          </a:prstGeom>
          <a:solidFill>
            <a:srgbClr val="1B4F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640080" cy="822960"/>
          </a:xfrm>
          <a:prstGeom prst="rect">
            <a:avLst/>
          </a:prstGeom>
          <a:solidFill>
            <a:srgbClr val="12205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57200" y="19659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34440" y="203911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Developer Handbook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31343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https://developer.wordpress.org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34440" y="2514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документация для разработчиков плагинов и тем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64008" cy="822960"/>
          </a:xfrm>
          <a:prstGeom prst="rect">
            <a:avLst/>
          </a:prstGeom>
          <a:solidFill>
            <a:srgbClr val="1B4F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640080" cy="822960"/>
          </a:xfrm>
          <a:prstGeom prst="rect">
            <a:avLst/>
          </a:prstGeom>
          <a:solidFill>
            <a:srgbClr val="12205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29992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Wikipedia: WordPress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27355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https://en.wikipedia.org/wiki/WordPress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234440" y="34747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создания, хронология развития, ключевые события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16245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57200" y="3886200"/>
            <a:ext cx="64008" cy="822960"/>
          </a:xfrm>
          <a:prstGeom prst="rect">
            <a:avLst/>
          </a:prstGeom>
          <a:solidFill>
            <a:srgbClr val="1B4F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640080" cy="822960"/>
          </a:xfrm>
          <a:prstGeom prst="rect">
            <a:avLst/>
          </a:prstGeom>
          <a:solidFill>
            <a:srgbClr val="12205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457200" y="38862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234440" y="395935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W3Techs CMS Statistics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423367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https://w3techs.com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234440" y="443484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Актуальная статистика использования CMS и WordPress в вебе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745</Words>
  <Application>Microsoft Office PowerPoint</Application>
  <PresentationFormat>Экран (16:9)</PresentationFormat>
  <Paragraphs>194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WordPress</dc:title>
  <dc:subject>PptxGenJS Presentation</dc:subject>
  <dc:creator>PptxGenJS</dc:creator>
  <cp:lastModifiedBy>Alexander Pitropov</cp:lastModifiedBy>
  <cp:revision>3</cp:revision>
  <dcterms:created xsi:type="dcterms:W3CDTF">2026-03-14T18:37:15Z</dcterms:created>
  <dcterms:modified xsi:type="dcterms:W3CDTF">2026-03-14T20:14:53Z</dcterms:modified>
</cp:coreProperties>
</file>